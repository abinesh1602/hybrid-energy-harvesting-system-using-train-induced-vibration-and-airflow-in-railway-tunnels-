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8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54" d="100"/>
          <a:sy n="54" d="100"/>
        </p:scale>
        <p:origin x="2702" y="77"/>
      </p:cViewPr>
      <p:guideLst>
        <p:guide orient="horz" pos="3120"/>
        <p:guide pos="218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AB11FD-9D56-454C-BE7D-12B2C9B515AB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936519-6C54-4024-8953-598DBCCCDB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3302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36519-6C54-4024-8953-598DBCCCDBB4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33216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6F1DA-CD1A-4DE4-8D14-94B28E18A982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D6B6D-883A-4DFB-8B28-EFC0063B10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3085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6F1DA-CD1A-4DE4-8D14-94B28E18A982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D6B6D-883A-4DFB-8B28-EFC0063B10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6181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6F1DA-CD1A-4DE4-8D14-94B28E18A982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D6B6D-883A-4DFB-8B28-EFC0063B10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5489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6F1DA-CD1A-4DE4-8D14-94B28E18A982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D6B6D-883A-4DFB-8B28-EFC0063B10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1442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6F1DA-CD1A-4DE4-8D14-94B28E18A982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D6B6D-883A-4DFB-8B28-EFC0063B10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0626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6F1DA-CD1A-4DE4-8D14-94B28E18A982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D6B6D-883A-4DFB-8B28-EFC0063B10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0869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6F1DA-CD1A-4DE4-8D14-94B28E18A982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D6B6D-883A-4DFB-8B28-EFC0063B10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5983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6F1DA-CD1A-4DE4-8D14-94B28E18A982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D6B6D-883A-4DFB-8B28-EFC0063B10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1116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6F1DA-CD1A-4DE4-8D14-94B28E18A982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D6B6D-883A-4DFB-8B28-EFC0063B10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8946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6F1DA-CD1A-4DE4-8D14-94B28E18A982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D6B6D-883A-4DFB-8B28-EFC0063B10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8253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6F1DA-CD1A-4DE4-8D14-94B28E18A982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D6B6D-883A-4DFB-8B28-EFC0063B10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7004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06F1DA-CD1A-4DE4-8D14-94B28E18A982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3D6B6D-883A-4DFB-8B28-EFC0063B10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662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p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8F6E18B-BC1D-106C-1810-52481705C3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6858000" cy="14436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DD40F5F-770C-0A6A-5126-2152D40D67EC}"/>
              </a:ext>
            </a:extLst>
          </p:cNvPr>
          <p:cNvSpPr txBox="1"/>
          <p:nvPr/>
        </p:nvSpPr>
        <p:spPr>
          <a:xfrm>
            <a:off x="626724" y="1443609"/>
            <a:ext cx="568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HYBRID ENERGY HARVESTING SYSTEM USING TRAIN-INDUCED VIBRATION AND AIRFLOW IN RAILWAY TUNNELS </a:t>
            </a:r>
            <a:endParaRPr lang="en-IN" b="1" dirty="0">
              <a:solidFill>
                <a:srgbClr val="FF0000"/>
              </a:solidFill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6A0879A-C5CA-1B31-B7D4-29C62E5754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9404940"/>
              </p:ext>
            </p:extLst>
          </p:nvPr>
        </p:nvGraphicFramePr>
        <p:xfrm>
          <a:off x="203491" y="2106821"/>
          <a:ext cx="3085567" cy="18354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5567">
                  <a:extLst>
                    <a:ext uri="{9D8B030D-6E8A-4147-A177-3AD203B41FA5}">
                      <a16:colId xmlns:a16="http://schemas.microsoft.com/office/drawing/2014/main" val="1269465261"/>
                    </a:ext>
                  </a:extLst>
                </a:gridCol>
              </a:tblGrid>
              <a:tr h="372378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Customers / Stakeholders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6083663"/>
                  </a:ext>
                </a:extLst>
              </a:tr>
              <a:tr h="136400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300" dirty="0"/>
                        <a:t>Railway authorities managing tunnel infrastructure, safety, and lighting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300" dirty="0"/>
                        <a:t>Tunnel maintenance teams handling electrical systems and operations</a:t>
                      </a:r>
                    </a:p>
                    <a:p>
                      <a:pPr marL="171450" marR="0" lvl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dirty="0"/>
                        <a:t>Smart city planners focusing sustainable transport and energy</a:t>
                      </a:r>
                      <a:endParaRPr lang="en-IN" sz="1300" dirty="0"/>
                    </a:p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1991961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954A09A-E949-CAB3-855F-9ABEF8FFB2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5344476"/>
              </p:ext>
            </p:extLst>
          </p:nvPr>
        </p:nvGraphicFramePr>
        <p:xfrm>
          <a:off x="203491" y="4095199"/>
          <a:ext cx="3085567" cy="1800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5567">
                  <a:extLst>
                    <a:ext uri="{9D8B030D-6E8A-4147-A177-3AD203B41FA5}">
                      <a16:colId xmlns:a16="http://schemas.microsoft.com/office/drawing/2014/main" val="1269465261"/>
                    </a:ext>
                  </a:extLst>
                </a:gridCol>
              </a:tblGrid>
              <a:tr h="303428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Pain Points/ Problems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6083663"/>
                  </a:ext>
                </a:extLst>
              </a:tr>
              <a:tr h="1465339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300" dirty="0"/>
                        <a:t>Tunnel lighting consumes high electricity from external power grid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300" dirty="0"/>
                        <a:t>Existing systems use only single source energy harvesting methods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300" dirty="0"/>
                        <a:t>High installation wiring and maintenance costs reduce efficiency</a:t>
                      </a:r>
                      <a:endParaRPr lang="en-IN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1991961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3E926B76-E110-46D3-168B-E10FF94B6D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0372914"/>
              </p:ext>
            </p:extLst>
          </p:nvPr>
        </p:nvGraphicFramePr>
        <p:xfrm>
          <a:off x="189168" y="6048778"/>
          <a:ext cx="3085567" cy="19885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5567">
                  <a:extLst>
                    <a:ext uri="{9D8B030D-6E8A-4147-A177-3AD203B41FA5}">
                      <a16:colId xmlns:a16="http://schemas.microsoft.com/office/drawing/2014/main" val="1269465261"/>
                    </a:ext>
                  </a:extLst>
                </a:gridCol>
              </a:tblGrid>
              <a:tr h="298971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Solution Uniqueness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6083663"/>
                  </a:ext>
                </a:extLst>
              </a:tr>
              <a:tr h="1653251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300" dirty="0"/>
                        <a:t>Hybrid system combines vibration and airflow for efficient generation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300" dirty="0"/>
                        <a:t>Self powered tunnel lighting eliminates dependency on external electricity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300" dirty="0"/>
                        <a:t>Energy generation triggered only during train movement for efficiency</a:t>
                      </a:r>
                      <a:endParaRPr lang="en-IN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1991961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BB01F820-CE9D-2837-76A9-90F360DE73BD}"/>
              </a:ext>
            </a:extLst>
          </p:cNvPr>
          <p:cNvSpPr txBox="1"/>
          <p:nvPr/>
        </p:nvSpPr>
        <p:spPr>
          <a:xfrm>
            <a:off x="3731210" y="2086999"/>
            <a:ext cx="292329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u="sng" dirty="0">
                <a:solidFill>
                  <a:srgbClr val="C00000"/>
                </a:solidFill>
              </a:rPr>
              <a:t>Team Members</a:t>
            </a:r>
          </a:p>
          <a:p>
            <a:pPr algn="ctr"/>
            <a:r>
              <a:rPr lang="en-IN" sz="1600" dirty="0"/>
              <a:t>DHANUSH S - 2311030 </a:t>
            </a:r>
            <a:endParaRPr lang="en-IN" sz="1600" b="1" u="sng" dirty="0">
              <a:solidFill>
                <a:srgbClr val="C00000"/>
              </a:solidFill>
            </a:endParaRPr>
          </a:p>
          <a:p>
            <a:pPr algn="ctr"/>
            <a:r>
              <a:rPr lang="en-IN" sz="1600" dirty="0"/>
              <a:t>SATHISH KUMAR V - 2311112</a:t>
            </a:r>
            <a:endParaRPr lang="en-IN" sz="1600" b="1" u="sng" dirty="0">
              <a:solidFill>
                <a:srgbClr val="C00000"/>
              </a:solidFill>
            </a:endParaRPr>
          </a:p>
          <a:p>
            <a:pPr algn="ctr"/>
            <a:r>
              <a:rPr lang="en-IN" sz="1600" dirty="0"/>
              <a:t>AROCKYA ABINESH A -2311123</a:t>
            </a:r>
          </a:p>
          <a:p>
            <a:pPr algn="ctr"/>
            <a:r>
              <a:rPr lang="en-IN" sz="1600" b="1" u="sng" dirty="0">
                <a:solidFill>
                  <a:srgbClr val="C00000"/>
                </a:solidFill>
              </a:rPr>
              <a:t>Mentors</a:t>
            </a:r>
          </a:p>
          <a:p>
            <a:pPr algn="ctr"/>
            <a:r>
              <a:rPr lang="en-IN" sz="1600" dirty="0"/>
              <a:t>Mrs. E. KIRTHIGA@SRIDEVI ME.,</a:t>
            </a:r>
          </a:p>
          <a:p>
            <a:pPr algn="ctr"/>
            <a:r>
              <a:rPr lang="en-IN" sz="1600" dirty="0"/>
              <a:t>Assistant Professor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8750C4-2D51-ED59-A5EB-C44A63BCAA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8631" y="4487925"/>
            <a:ext cx="1836420" cy="18364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DD6B41-9357-92A8-291B-6A4A347B2F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2413" y="4487925"/>
            <a:ext cx="1492001" cy="354938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D479557-CEB1-939E-28AD-EAC1A4E26333}"/>
              </a:ext>
            </a:extLst>
          </p:cNvPr>
          <p:cNvSpPr txBox="1"/>
          <p:nvPr/>
        </p:nvSpPr>
        <p:spPr>
          <a:xfrm>
            <a:off x="3568942" y="4241704"/>
            <a:ext cx="94769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/>
              <a:t>Block Diagram</a:t>
            </a:r>
            <a:endParaRPr lang="en-IN" sz="1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213BB3-E085-499B-AFA8-176FFC0729A9}"/>
              </a:ext>
            </a:extLst>
          </p:cNvPr>
          <p:cNvSpPr txBox="1"/>
          <p:nvPr/>
        </p:nvSpPr>
        <p:spPr>
          <a:xfrm>
            <a:off x="4908631" y="4241704"/>
            <a:ext cx="10695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/>
              <a:t>Prototype Photo</a:t>
            </a:r>
            <a:endParaRPr lang="en-IN" sz="1000" b="1" dirty="0"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A2DCCF42-15FD-75EA-C680-143E474AED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7090816"/>
              </p:ext>
            </p:extLst>
          </p:nvPr>
        </p:nvGraphicFramePr>
        <p:xfrm>
          <a:off x="189168" y="8314365"/>
          <a:ext cx="4415472" cy="142316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03868">
                  <a:extLst>
                    <a:ext uri="{9D8B030D-6E8A-4147-A177-3AD203B41FA5}">
                      <a16:colId xmlns:a16="http://schemas.microsoft.com/office/drawing/2014/main" val="2920083655"/>
                    </a:ext>
                  </a:extLst>
                </a:gridCol>
                <a:gridCol w="1103868">
                  <a:extLst>
                    <a:ext uri="{9D8B030D-6E8A-4147-A177-3AD203B41FA5}">
                      <a16:colId xmlns:a16="http://schemas.microsoft.com/office/drawing/2014/main" val="1612180878"/>
                    </a:ext>
                  </a:extLst>
                </a:gridCol>
                <a:gridCol w="1103868">
                  <a:extLst>
                    <a:ext uri="{9D8B030D-6E8A-4147-A177-3AD203B41FA5}">
                      <a16:colId xmlns:a16="http://schemas.microsoft.com/office/drawing/2014/main" val="819895452"/>
                    </a:ext>
                  </a:extLst>
                </a:gridCol>
                <a:gridCol w="1103868">
                  <a:extLst>
                    <a:ext uri="{9D8B030D-6E8A-4147-A177-3AD203B41FA5}">
                      <a16:colId xmlns:a16="http://schemas.microsoft.com/office/drawing/2014/main" val="3354935589"/>
                    </a:ext>
                  </a:extLst>
                </a:gridCol>
              </a:tblGrid>
              <a:tr h="401231">
                <a:tc>
                  <a:txBody>
                    <a:bodyPr/>
                    <a:lstStyle/>
                    <a:p>
                      <a:pPr marR="43815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 dirty="0">
                          <a:effectLst/>
                        </a:rPr>
                        <a:t>Parameter</a:t>
                      </a:r>
                      <a:endParaRPr lang="en-IN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22288" marR="22288" marT="14859" marB="14859" anchor="b"/>
                </a:tc>
                <a:tc>
                  <a:txBody>
                    <a:bodyPr/>
                    <a:lstStyle/>
                    <a:p>
                      <a:pPr marR="43815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Piezoelectric Module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22288" marR="22288" marT="14859" marB="14859" anchor="b"/>
                </a:tc>
                <a:tc>
                  <a:txBody>
                    <a:bodyPr/>
                    <a:lstStyle/>
                    <a:p>
                      <a:pPr marR="43815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 dirty="0">
                          <a:effectLst/>
                        </a:rPr>
                        <a:t>Airflow Module</a:t>
                      </a:r>
                      <a:endParaRPr lang="en-IN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22288" marR="22288" marT="14859" marB="14859" anchor="b"/>
                </a:tc>
                <a:tc>
                  <a:txBody>
                    <a:bodyPr/>
                    <a:lstStyle/>
                    <a:p>
                      <a:pPr marR="43815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Hybrid System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22288" marR="22288" marT="14859" marB="14859" anchor="b"/>
                </a:tc>
                <a:extLst>
                  <a:ext uri="{0D108BD9-81ED-4DB2-BD59-A6C34878D82A}">
                    <a16:rowId xmlns:a16="http://schemas.microsoft.com/office/drawing/2014/main" val="3695163202"/>
                  </a:ext>
                </a:extLst>
              </a:tr>
              <a:tr h="209853">
                <a:tc>
                  <a:txBody>
                    <a:bodyPr/>
                    <a:lstStyle/>
                    <a:p>
                      <a:pPr marR="43815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Voltage (DC)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22288" marR="22288" marT="14859" marB="14859" anchor="b"/>
                </a:tc>
                <a:tc>
                  <a:txBody>
                    <a:bodyPr/>
                    <a:lstStyle/>
                    <a:p>
                      <a:pPr marR="43815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0.3V – 3V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22288" marR="22288" marT="14859" marB="14859" anchor="b"/>
                </a:tc>
                <a:tc>
                  <a:txBody>
                    <a:bodyPr/>
                    <a:lstStyle/>
                    <a:p>
                      <a:pPr marR="43815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1V – 5V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22288" marR="22288" marT="14859" marB="14859" anchor="b"/>
                </a:tc>
                <a:tc>
                  <a:txBody>
                    <a:bodyPr/>
                    <a:lstStyle/>
                    <a:p>
                      <a:pPr marR="43815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2V – 5V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22288" marR="22288" marT="14859" marB="14859" anchor="b"/>
                </a:tc>
                <a:extLst>
                  <a:ext uri="{0D108BD9-81ED-4DB2-BD59-A6C34878D82A}">
                    <a16:rowId xmlns:a16="http://schemas.microsoft.com/office/drawing/2014/main" val="1045386599"/>
                  </a:ext>
                </a:extLst>
              </a:tr>
              <a:tr h="401231">
                <a:tc>
                  <a:txBody>
                    <a:bodyPr/>
                    <a:lstStyle/>
                    <a:p>
                      <a:pPr marR="43815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 dirty="0">
                          <a:effectLst/>
                        </a:rPr>
                        <a:t>Stability</a:t>
                      </a:r>
                      <a:endParaRPr lang="en-IN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22288" marR="22288" marT="14859" marB="14859" anchor="b"/>
                </a:tc>
                <a:tc>
                  <a:txBody>
                    <a:bodyPr/>
                    <a:lstStyle/>
                    <a:p>
                      <a:pPr marR="43815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Low (Vibration dependent)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22288" marR="22288" marT="14859" marB="14859" anchor="b"/>
                </a:tc>
                <a:tc>
                  <a:txBody>
                    <a:bodyPr/>
                    <a:lstStyle/>
                    <a:p>
                      <a:pPr marR="43815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 dirty="0">
                          <a:effectLst/>
                        </a:rPr>
                        <a:t>Medium (Speed dependent)</a:t>
                      </a:r>
                      <a:endParaRPr lang="en-IN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22288" marR="22288" marT="14859" marB="14859" anchor="b"/>
                </a:tc>
                <a:tc>
                  <a:txBody>
                    <a:bodyPr/>
                    <a:lstStyle/>
                    <a:p>
                      <a:pPr marR="43815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High (Combined)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14859" marB="14859" anchor="b"/>
                </a:tc>
                <a:extLst>
                  <a:ext uri="{0D108BD9-81ED-4DB2-BD59-A6C34878D82A}">
                    <a16:rowId xmlns:a16="http://schemas.microsoft.com/office/drawing/2014/main" val="4027346175"/>
                  </a:ext>
                </a:extLst>
              </a:tr>
              <a:tr h="401231">
                <a:tc>
                  <a:txBody>
                    <a:bodyPr/>
                    <a:lstStyle/>
                    <a:p>
                      <a:pPr marR="43815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Primary Use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22288" marR="22288" marT="14859" marB="14859" anchor="b"/>
                </a:tc>
                <a:tc>
                  <a:txBody>
                    <a:bodyPr/>
                    <a:lstStyle/>
                    <a:p>
                      <a:pPr marR="43815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Low-power sensing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22288" marR="22288" marT="14859" marB="14859" anchor="b"/>
                </a:tc>
                <a:tc>
                  <a:txBody>
                    <a:bodyPr/>
                    <a:lstStyle/>
                    <a:p>
                      <a:pPr marR="43815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Battery charging/Lighting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22288" marR="22288" marT="14859" marB="14859" anchor="b"/>
                </a:tc>
                <a:tc>
                  <a:txBody>
                    <a:bodyPr/>
                    <a:lstStyle/>
                    <a:p>
                      <a:pPr marR="43815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 dirty="0">
                          <a:effectLst/>
                        </a:rPr>
                        <a:t>Continuous tunnel power +1</a:t>
                      </a:r>
                      <a:endParaRPr lang="en-IN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14859" marB="14859" anchor="b"/>
                </a:tc>
                <a:extLst>
                  <a:ext uri="{0D108BD9-81ED-4DB2-BD59-A6C34878D82A}">
                    <a16:rowId xmlns:a16="http://schemas.microsoft.com/office/drawing/2014/main" val="365650705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15852FB9-DA48-3F86-7252-A8A8838E66E2}"/>
              </a:ext>
            </a:extLst>
          </p:cNvPr>
          <p:cNvSpPr txBox="1"/>
          <p:nvPr/>
        </p:nvSpPr>
        <p:spPr>
          <a:xfrm>
            <a:off x="124702" y="8068144"/>
            <a:ext cx="6046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/>
              <a:t>Results:</a:t>
            </a:r>
            <a:endParaRPr lang="en-IN" sz="1000" b="1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01A064F-2199-EE9E-6B9F-AB027857CE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650" y="6580532"/>
            <a:ext cx="1900382" cy="190038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1D8D2384-5AD0-18C3-5FDA-F9D4839415E7}"/>
              </a:ext>
            </a:extLst>
          </p:cNvPr>
          <p:cNvSpPr txBox="1"/>
          <p:nvPr/>
        </p:nvSpPr>
        <p:spPr>
          <a:xfrm>
            <a:off x="4908631" y="6348049"/>
            <a:ext cx="7841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/>
              <a:t>CAD Model</a:t>
            </a:r>
            <a:endParaRPr lang="en-IN" sz="1000" b="1" dirty="0"/>
          </a:p>
        </p:txBody>
      </p:sp>
    </p:spTree>
    <p:extLst>
      <p:ext uri="{BB962C8B-B14F-4D97-AF65-F5344CB8AC3E}">
        <p14:creationId xmlns:p14="http://schemas.microsoft.com/office/powerpoint/2010/main" val="6157298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68</TotalTime>
  <Words>185</Words>
  <Application>Microsoft Office PowerPoint</Application>
  <PresentationFormat>A4 Paper (210x297 mm)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Calibri Light</vt:lpstr>
      <vt:lpstr>Office Theme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GANAPATHY RAM B</dc:creator>
  <cp:lastModifiedBy>Arockya Abinesh A</cp:lastModifiedBy>
  <cp:revision>3</cp:revision>
  <dcterms:created xsi:type="dcterms:W3CDTF">2026-04-21T12:06:18Z</dcterms:created>
  <dcterms:modified xsi:type="dcterms:W3CDTF">2026-04-22T04:06:51Z</dcterms:modified>
</cp:coreProperties>
</file>