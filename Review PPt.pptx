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1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6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2A9FB-42E0-8198-B5EF-D509FF891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6B204E-3CD3-D346-87FB-6BCC16A27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DDB75-5767-A074-9F32-33F121D30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CD71F-E61B-49B3-A655-A5E294595D6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3D655-01AD-36AA-0754-2E5F38636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ADCD8-6856-7752-FD34-ADAA00A6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140A-3690-47FF-99A4-32E91102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514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1E5EE-66DA-B570-150C-A6C610BB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AD220-7444-30ED-9925-DF1135BD2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7D60B-15F6-D970-094D-E0E487B68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CD71F-E61B-49B3-A655-A5E294595D6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44DE9-94DB-0D26-182D-E2B0BFC8C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3982D-9DD5-BCB1-A165-B401EFB7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140A-3690-47FF-99A4-32E91102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42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CEC66-B397-3F71-2938-438A2B187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595D6-6316-723D-E8B7-FC8C647FE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3EE3E-C7BD-7663-7818-472E4B2E0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CD71F-E61B-49B3-A655-A5E294595D6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8D4C8-014B-A1ED-D1A3-CF9531852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BE39E-683F-E9E7-EEDC-C5B52E482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140A-3690-47FF-99A4-32E91102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952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852B5-FF3E-52D5-8216-5856187A5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8D18-1DC0-8785-A356-B5113A587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C8F0C5-F7CF-8B09-3A0C-2985C5CA4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2834F-E8C3-517C-227C-9E4220102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CD71F-E61B-49B3-A655-A5E294595D6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A32BC-1813-E72E-D9A0-D656F6B99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E1C99-3B04-08D4-E129-32F2F2ABC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140A-3690-47FF-99A4-32E91102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68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394F-C13C-430A-3BBE-3351306C6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CF9C3-BEB6-F228-3694-F02E24656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B0E49-7083-8BE6-2DD3-A65DA03F4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AB9022-8894-9126-08C6-C2F227CE3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2C143E-BDE7-C534-CF56-701874420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E3B45A-8785-A1EB-F251-2F8214184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CD71F-E61B-49B3-A655-A5E294595D6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9724BC-A29E-8B4F-7084-3481A592F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3A81B-A691-DF9C-A63E-E4DE8D016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140A-3690-47FF-99A4-32E91102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848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FC3D4-CA68-6CCA-345F-4696B9E6F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EEA4F0-4DA7-D5C8-347F-DD4D6B805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CD71F-E61B-49B3-A655-A5E294595D6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DD9DD4-C6C6-68B8-5E4E-CE245C7F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B71C8-5801-3141-3DA6-0C20F704A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140A-3690-47FF-99A4-32E91102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29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C39A62-8AE9-033E-F25C-703D145D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CD71F-E61B-49B3-A655-A5E294595D6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862A6-5925-FF20-4DCC-F0CECA1F4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EB0C4-BB90-3957-F186-82640F50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140A-3690-47FF-99A4-32E91102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503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CE516-C1E6-A293-FABC-36EA9AE03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E2FD8-EA53-1AD5-FBDC-D6C735DF4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361A5-E99C-1AD0-4A7A-0858DF4B1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5F713-0CA3-B638-A933-72E392C0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CD71F-E61B-49B3-A655-A5E294595D6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9905C-6400-5DF1-B910-4146B6487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D9CC0-8689-8291-60A1-187DD7359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140A-3690-47FF-99A4-32E91102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120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E2DA-DCB9-8A00-1CDE-485A0EACA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875565-E959-4DBA-2678-34502F3D0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194A8-72EF-2D55-8EDC-D700948AA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73404-D2B5-59D9-0C77-6D5BA2E1C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CD71F-E61B-49B3-A655-A5E294595D6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A5605-F62C-BBF0-42E6-B33A94A6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BBA07-76DA-5D20-6CF6-0D3190EC5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140A-3690-47FF-99A4-32E91102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93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7E4D8-F160-41AA-1222-57B830191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C143FF-CB0B-F86A-7EE1-937421897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7A272-5741-8863-80A4-202EF3879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CD71F-E61B-49B3-A655-A5E294595D6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420FD-DD3C-F9A9-2757-EAB6E40A0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B2D26-81DA-1493-AFEC-12AA6F7DE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140A-3690-47FF-99A4-32E91102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95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6F2F84-4DCD-1F2B-C9BB-23556CC702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FDB197-1A8F-3F3E-0534-1A5CCF65E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86603-0A0E-642D-9C3A-A1725CC36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CD71F-E61B-49B3-A655-A5E294595D6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0674B-FC64-2812-C82B-9F3A3EF6A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1AC78-0028-61D8-CE0E-D12DD543D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8140A-3690-47FF-99A4-32E91102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715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43A06B-ADDE-7425-10DE-8467537A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C5032-529C-8196-2CCD-D6876725E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C8529-8DD4-C78A-FE93-0C062306C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CD71F-E61B-49B3-A655-A5E294595D6D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75769-B1CC-D3CA-8E1E-17F01FF38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F04F7-0EAF-8D8E-056D-DE65F3FC4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A8140A-3690-47FF-99A4-32E9110295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369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6C6799-E100-DFA2-4688-808C079F9A2E}"/>
              </a:ext>
            </a:extLst>
          </p:cNvPr>
          <p:cNvSpPr txBox="1"/>
          <p:nvPr/>
        </p:nvSpPr>
        <p:spPr>
          <a:xfrm>
            <a:off x="-175834" y="2621147"/>
            <a:ext cx="12543666" cy="1201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Hybrid Energy Harvesting System Using Train-Induced Vibration And Airflow In Railway Tunnels</a:t>
            </a:r>
            <a:endParaRPr lang="en-I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23760-33E1-E17E-4576-541E3116E388}"/>
              </a:ext>
            </a:extLst>
          </p:cNvPr>
          <p:cNvSpPr txBox="1"/>
          <p:nvPr/>
        </p:nvSpPr>
        <p:spPr>
          <a:xfrm>
            <a:off x="1969526" y="0"/>
            <a:ext cx="9692640" cy="1673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IN" sz="3600" b="1" dirty="0">
                <a:solidFill>
                  <a:srgbClr val="0D0D86"/>
                </a:solidFill>
              </a:rPr>
              <a:t>NATIONAL ENGINEERING COLLEGE, KOVILPATTI</a:t>
            </a:r>
          </a:p>
          <a:p>
            <a:pPr algn="ctr">
              <a:lnSpc>
                <a:spcPct val="125000"/>
              </a:lnSpc>
            </a:pPr>
            <a:r>
              <a:rPr lang="en-IN" sz="2400" b="1" dirty="0">
                <a:solidFill>
                  <a:srgbClr val="0D0D86"/>
                </a:solidFill>
              </a:rPr>
              <a:t>(An Autonomous Institution Affiliated to Anna University, Chennai)</a:t>
            </a:r>
          </a:p>
          <a:p>
            <a:pPr algn="ctr">
              <a:lnSpc>
                <a:spcPct val="125000"/>
              </a:lnSpc>
            </a:pPr>
            <a:r>
              <a:rPr lang="en-IN" sz="2400" b="1" dirty="0">
                <a:solidFill>
                  <a:srgbClr val="0D0D86"/>
                </a:solidFill>
              </a:rPr>
              <a:t>DEPARTMENT OF ELECTRONICS AND COMMUNICATION ENGINEERING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D665FB-2BF6-1C36-30E7-AC9144E88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34" y="114787"/>
            <a:ext cx="1136406" cy="14647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AC7047-B72A-F0B6-B9BF-3501D990763E}"/>
              </a:ext>
            </a:extLst>
          </p:cNvPr>
          <p:cNvSpPr txBox="1"/>
          <p:nvPr/>
        </p:nvSpPr>
        <p:spPr>
          <a:xfrm>
            <a:off x="1" y="4057748"/>
            <a:ext cx="568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Team Members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F3DF2-7F5B-1D3A-97C8-C4B50F8EDC5D}"/>
              </a:ext>
            </a:extLst>
          </p:cNvPr>
          <p:cNvSpPr txBox="1"/>
          <p:nvPr/>
        </p:nvSpPr>
        <p:spPr>
          <a:xfrm>
            <a:off x="6502400" y="4057748"/>
            <a:ext cx="568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</a:rPr>
              <a:t>Mentors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1C7259-EE4A-00A4-58C4-9DB9AC43B05A}"/>
              </a:ext>
            </a:extLst>
          </p:cNvPr>
          <p:cNvSpPr txBox="1"/>
          <p:nvPr/>
        </p:nvSpPr>
        <p:spPr>
          <a:xfrm>
            <a:off x="406399" y="4580968"/>
            <a:ext cx="55224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800" b="1" dirty="0"/>
              <a:t>DHANUSH S (2311030)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b="1" dirty="0"/>
              <a:t>SATHISH KUMAR V (2311112)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b="1" dirty="0"/>
              <a:t>AROCKYA ABINESH A (2311123)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9A63DA-70F9-BBC0-A97F-CA8BCCBE63BF}"/>
              </a:ext>
            </a:extLst>
          </p:cNvPr>
          <p:cNvSpPr txBox="1"/>
          <p:nvPr/>
        </p:nvSpPr>
        <p:spPr>
          <a:xfrm>
            <a:off x="6360160" y="4580968"/>
            <a:ext cx="568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MRS. E. KIRTHIGA @ SRIDEVI M.E.,</a:t>
            </a:r>
            <a:r>
              <a:rPr lang="en-IN" sz="2800" b="1" dirty="0"/>
              <a:t> </a:t>
            </a:r>
          </a:p>
          <a:p>
            <a:pPr algn="ctr"/>
            <a:r>
              <a:rPr lang="en-IN" sz="2800" b="1" dirty="0"/>
              <a:t>ASSISTANT PROFESSOR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53B584-D2A3-AD8E-BDF4-F71789353D09}"/>
              </a:ext>
            </a:extLst>
          </p:cNvPr>
          <p:cNvSpPr txBox="1"/>
          <p:nvPr/>
        </p:nvSpPr>
        <p:spPr>
          <a:xfrm>
            <a:off x="0" y="1862335"/>
            <a:ext cx="12191999" cy="523220"/>
          </a:xfrm>
          <a:prstGeom prst="rect">
            <a:avLst/>
          </a:prstGeom>
          <a:solidFill>
            <a:srgbClr val="0D0D8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23EC64C – PRODUCT DEVELOPMENT AND PRACTICE</a:t>
            </a:r>
          </a:p>
        </p:txBody>
      </p:sp>
    </p:spTree>
    <p:extLst>
      <p:ext uri="{BB962C8B-B14F-4D97-AF65-F5344CB8AC3E}">
        <p14:creationId xmlns:p14="http://schemas.microsoft.com/office/powerpoint/2010/main" val="1069131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DCBD1-C3B1-9E78-DB8C-91FFEFDD6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0092E3-3671-76D5-DC99-D848FE07149B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solidFill>
            <a:srgbClr val="0D0D8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OUTLINE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0DC84A-3B66-7021-B317-14CEF6272C13}"/>
              </a:ext>
            </a:extLst>
          </p:cNvPr>
          <p:cNvSpPr txBox="1"/>
          <p:nvPr/>
        </p:nvSpPr>
        <p:spPr>
          <a:xfrm>
            <a:off x="11186160" y="30480"/>
            <a:ext cx="70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C09E79-F566-481D-AE59-50A0C6FE246A}" type="slidenum">
              <a:rPr lang="en-IN" sz="2800" b="1" smtClean="0">
                <a:solidFill>
                  <a:schemeClr val="bg1"/>
                </a:solidFill>
              </a:rPr>
              <a:pPr algn="ctr"/>
              <a:t>2</a:t>
            </a:fld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4D1F78-BE19-6593-3921-9C402FC1DE79}"/>
              </a:ext>
            </a:extLst>
          </p:cNvPr>
          <p:cNvSpPr txBox="1"/>
          <p:nvPr/>
        </p:nvSpPr>
        <p:spPr>
          <a:xfrm>
            <a:off x="2235200" y="1360248"/>
            <a:ext cx="5689600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/>
              <a:t>Objectives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/>
              <a:t>Literature Survey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/>
              <a:t>Patent Survey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/>
              <a:t>Problems in the Existing Solution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/>
              <a:t>Proposed Methodology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/>
              <a:t>Results and Discussion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/>
              <a:t>Conclusion &amp; Future Direction</a:t>
            </a:r>
          </a:p>
        </p:txBody>
      </p:sp>
    </p:spTree>
    <p:extLst>
      <p:ext uri="{BB962C8B-B14F-4D97-AF65-F5344CB8AC3E}">
        <p14:creationId xmlns:p14="http://schemas.microsoft.com/office/powerpoint/2010/main" val="146113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35DFF3-9D1B-DBE1-514A-0035F2E325A6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solidFill>
            <a:srgbClr val="0D0D8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4F1FD8-A3B5-2390-9446-5ADF3D93AB33}"/>
              </a:ext>
            </a:extLst>
          </p:cNvPr>
          <p:cNvSpPr txBox="1"/>
          <p:nvPr/>
        </p:nvSpPr>
        <p:spPr>
          <a:xfrm>
            <a:off x="11186160" y="30480"/>
            <a:ext cx="70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C09E79-F566-481D-AE59-50A0C6FE246A}" type="slidenum">
              <a:rPr lang="en-IN" sz="2800" b="1" smtClean="0">
                <a:solidFill>
                  <a:schemeClr val="bg1"/>
                </a:solidFill>
              </a:rPr>
              <a:pPr algn="ctr"/>
              <a:t>3</a:t>
            </a:fld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A8567E-4A30-8173-E7C5-1368FB3993AB}"/>
              </a:ext>
            </a:extLst>
          </p:cNvPr>
          <p:cNvSpPr txBox="1"/>
          <p:nvPr/>
        </p:nvSpPr>
        <p:spPr>
          <a:xfrm>
            <a:off x="648928" y="1305341"/>
            <a:ext cx="1089414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>
                <a:cs typeface="Times New Roman" panose="02020603050405020304" pitchFamily="18" charset="0"/>
              </a:rPr>
              <a:t>1. To Harvest Energy from Train-Induced Vibration</a:t>
            </a:r>
          </a:p>
          <a:p>
            <a:pPr algn="just"/>
            <a:r>
              <a:rPr lang="en-US" sz="2200" dirty="0"/>
              <a:t>Harvest electrical energy from train-induced vibrations using piezoelectric sensor systems.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b="1" dirty="0">
                <a:cs typeface="Times New Roman" panose="02020603050405020304" pitchFamily="18" charset="0"/>
              </a:rPr>
              <a:t>2. To Generate Energy from Airflow in Tunnels</a:t>
            </a:r>
          </a:p>
          <a:p>
            <a:pPr algn="just"/>
            <a:r>
              <a:rPr lang="en-US" sz="2200" dirty="0"/>
              <a:t>Generate electrical power from strong tunnel airflow using micro wind turbine systems.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b="1" dirty="0">
                <a:cs typeface="Times New Roman" panose="02020603050405020304" pitchFamily="18" charset="0"/>
              </a:rPr>
              <a:t>3. To Develop a Hybrid Energy System</a:t>
            </a:r>
          </a:p>
          <a:p>
            <a:pPr algn="just"/>
            <a:r>
              <a:rPr lang="en-US" sz="2200" dirty="0"/>
              <a:t>Develop a hybrid system combining vibration and airflow energy sources efficiently.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b="1" dirty="0">
                <a:cs typeface="Times New Roman" panose="02020603050405020304" pitchFamily="18" charset="0"/>
              </a:rPr>
              <a:t>4. To Store and Manage Generated Energy Efficiently</a:t>
            </a:r>
          </a:p>
          <a:p>
            <a:pPr algn="just"/>
            <a:r>
              <a:rPr lang="en-US" sz="2200" dirty="0"/>
              <a:t>Store generated energy effectively using rechargeable batteries with proper charging circuits.</a:t>
            </a:r>
          </a:p>
          <a:p>
            <a:pPr algn="just"/>
            <a:endParaRPr lang="en-US" sz="2200" dirty="0"/>
          </a:p>
          <a:p>
            <a:r>
              <a:rPr lang="en-US" sz="2200" b="1" dirty="0">
                <a:cs typeface="Times New Roman" panose="02020603050405020304" pitchFamily="18" charset="0"/>
              </a:rPr>
              <a:t>5. To Provide Self-Powered Tunnel Lighting System</a:t>
            </a:r>
            <a:br>
              <a:rPr lang="en-US" sz="2200" dirty="0">
                <a:cs typeface="Times New Roman" panose="02020603050405020304" pitchFamily="18" charset="0"/>
              </a:rPr>
            </a:br>
            <a:r>
              <a:rPr lang="en-US" sz="2200" dirty="0"/>
              <a:t>Provide automatic tunnel LED lighting using stored renewable energy for improved visibility. 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904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22BC-7FB1-C6B1-83CE-312D28181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EC604B-6B75-596D-B96F-7FEEE5E93030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solidFill>
            <a:srgbClr val="0D0D8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1B413C-E134-F9CE-2306-215F5A7C05A9}"/>
              </a:ext>
            </a:extLst>
          </p:cNvPr>
          <p:cNvSpPr txBox="1"/>
          <p:nvPr/>
        </p:nvSpPr>
        <p:spPr>
          <a:xfrm>
            <a:off x="11186160" y="30480"/>
            <a:ext cx="70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C09E79-F566-481D-AE59-50A0C6FE246A}" type="slidenum">
              <a:rPr lang="en-IN" sz="2800" b="1" smtClean="0">
                <a:solidFill>
                  <a:schemeClr val="bg1"/>
                </a:solidFill>
              </a:rPr>
              <a:pPr algn="ctr"/>
              <a:t>4</a:t>
            </a:fld>
            <a:endParaRPr lang="en-IN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A66DB5-E774-E280-0B13-A04038E1E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875150"/>
              </p:ext>
            </p:extLst>
          </p:nvPr>
        </p:nvGraphicFramePr>
        <p:xfrm>
          <a:off x="226142" y="615255"/>
          <a:ext cx="11769212" cy="612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774">
                  <a:extLst>
                    <a:ext uri="{9D8B030D-6E8A-4147-A177-3AD203B41FA5}">
                      <a16:colId xmlns:a16="http://schemas.microsoft.com/office/drawing/2014/main" val="39839017"/>
                    </a:ext>
                  </a:extLst>
                </a:gridCol>
                <a:gridCol w="3498607">
                  <a:extLst>
                    <a:ext uri="{9D8B030D-6E8A-4147-A177-3AD203B41FA5}">
                      <a16:colId xmlns:a16="http://schemas.microsoft.com/office/drawing/2014/main" val="1757604047"/>
                    </a:ext>
                  </a:extLst>
                </a:gridCol>
                <a:gridCol w="2068558">
                  <a:extLst>
                    <a:ext uri="{9D8B030D-6E8A-4147-A177-3AD203B41FA5}">
                      <a16:colId xmlns:a16="http://schemas.microsoft.com/office/drawing/2014/main" val="2958084040"/>
                    </a:ext>
                  </a:extLst>
                </a:gridCol>
                <a:gridCol w="5245273">
                  <a:extLst>
                    <a:ext uri="{9D8B030D-6E8A-4147-A177-3AD203B41FA5}">
                      <a16:colId xmlns:a16="http://schemas.microsoft.com/office/drawing/2014/main" val="495620318"/>
                    </a:ext>
                  </a:extLst>
                </a:gridCol>
              </a:tblGrid>
              <a:tr h="67225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 err="1"/>
                        <a:t>S.No</a:t>
                      </a:r>
                      <a:r>
                        <a:rPr lang="en-IN" sz="24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Title of the Research Article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Journal Name &amp; Publication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063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review of vibration energy harvesting in rail transportation field 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err="1"/>
                        <a:t>Iscience</a:t>
                      </a:r>
                      <a:r>
                        <a:rPr lang="en-US" sz="1800" dirty="0"/>
                        <a:t> - 2022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 2022 </a:t>
                      </a:r>
                      <a:r>
                        <a:rPr lang="en-US" sz="1800" i="1" dirty="0" err="1"/>
                        <a:t>iScience</a:t>
                      </a:r>
                      <a:r>
                        <a:rPr lang="en-US" sz="1800" dirty="0"/>
                        <a:t> research article focusing on advanced energy harvesting techniques using piezoelectric materials.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139571"/>
                  </a:ext>
                </a:extLst>
              </a:tr>
              <a:tr h="242488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Piezoelectric energy harvesting in railways: Current status and future challenges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dirty="0"/>
                        <a:t>Energy Strategy Reviews - 2025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A 2025 </a:t>
                      </a:r>
                      <a:r>
                        <a:rPr lang="en-US" sz="1800" i="1" dirty="0">
                          <a:latin typeface="+mn-lt"/>
                        </a:rPr>
                        <a:t>Energy Strategy Reviews</a:t>
                      </a:r>
                      <a:r>
                        <a:rPr lang="en-US" sz="1800" dirty="0">
                          <a:latin typeface="+mn-lt"/>
                        </a:rPr>
                        <a:t> article analyzing modern strategies for sustainable energy generation and management.</a:t>
                      </a:r>
                      <a:endParaRPr lang="en-IN" sz="1800" dirty="0">
                        <a:latin typeface="+mn-lt"/>
                      </a:endParaRPr>
                    </a:p>
                    <a:p>
                      <a:pPr algn="just"/>
                      <a:endParaRPr lang="en-IN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407812"/>
                  </a:ext>
                </a:extLst>
              </a:tr>
              <a:tr h="75401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Vibration energy harvesting from railway tracks via a magnetic-piezoelectric system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dirty="0"/>
                        <a:t>Smart Materials and Structures - 2025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/>
                        <a:t>This 2025 study proposes a magnetic–piezoelectric system to harvest energy from railway track vibrations. 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7774419"/>
                  </a:ext>
                </a:extLst>
              </a:tr>
              <a:tr h="75401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Hybrid energy harvesting using combined piezoelectric and electromagnetic conversion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dirty="0"/>
                        <a:t>Energy Conversion and Management - 2018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/>
                        <a:t>A 2018 </a:t>
                      </a:r>
                      <a:r>
                        <a:rPr lang="en-US" sz="1800" i="1" dirty="0"/>
                        <a:t>Energy Conversion and Management</a:t>
                      </a:r>
                      <a:r>
                        <a:rPr lang="en-US" sz="1800" dirty="0"/>
                        <a:t> study on efficient methods of harvesting and converting mechanical energy into electricity.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7573279"/>
                  </a:ext>
                </a:extLst>
              </a:tr>
              <a:tr h="75401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Piezoelectric energy harvesting in railways: Current status and future challenges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Energy Strategy Reviews - 2025</a:t>
                      </a:r>
                    </a:p>
                    <a:p>
                      <a:pPr algn="just"/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/>
                        <a:t>This 2025 study reviews piezoelectric energy harvesting techniques for converting mechanical vibrations into electrical energy.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4429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356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EB4DC-2EC0-1029-BD4D-38207DEB1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0685F3-D29D-9A0E-F337-E3A3CE8957D7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solidFill>
            <a:srgbClr val="0D0D8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PATENT SURVEY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25CA87-4108-302F-42D5-DA7D28CC0886}"/>
              </a:ext>
            </a:extLst>
          </p:cNvPr>
          <p:cNvSpPr txBox="1"/>
          <p:nvPr/>
        </p:nvSpPr>
        <p:spPr>
          <a:xfrm>
            <a:off x="11186160" y="30480"/>
            <a:ext cx="70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C09E79-F566-481D-AE59-50A0C6FE246A}" type="slidenum">
              <a:rPr lang="en-IN" sz="2800" b="1" smtClean="0">
                <a:solidFill>
                  <a:schemeClr val="bg1"/>
                </a:solidFill>
              </a:rPr>
              <a:pPr algn="ctr"/>
              <a:t>5</a:t>
            </a:fld>
            <a:endParaRPr lang="en-IN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62FC39-0B02-7A75-FD78-A69A85C4E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894648"/>
              </p:ext>
            </p:extLst>
          </p:nvPr>
        </p:nvGraphicFramePr>
        <p:xfrm>
          <a:off x="477520" y="876605"/>
          <a:ext cx="11409680" cy="5508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1">
                  <a:extLst>
                    <a:ext uri="{9D8B030D-6E8A-4147-A177-3AD203B41FA5}">
                      <a16:colId xmlns:a16="http://schemas.microsoft.com/office/drawing/2014/main" val="39839017"/>
                    </a:ext>
                  </a:extLst>
                </a:gridCol>
                <a:gridCol w="3378199">
                  <a:extLst>
                    <a:ext uri="{9D8B030D-6E8A-4147-A177-3AD203B41FA5}">
                      <a16:colId xmlns:a16="http://schemas.microsoft.com/office/drawing/2014/main" val="1757604047"/>
                    </a:ext>
                  </a:extLst>
                </a:gridCol>
                <a:gridCol w="1991360">
                  <a:extLst>
                    <a:ext uri="{9D8B030D-6E8A-4147-A177-3AD203B41FA5}">
                      <a16:colId xmlns:a16="http://schemas.microsoft.com/office/drawing/2014/main" val="2958084040"/>
                    </a:ext>
                  </a:extLst>
                </a:gridCol>
                <a:gridCol w="5049520">
                  <a:extLst>
                    <a:ext uri="{9D8B030D-6E8A-4147-A177-3AD203B41FA5}">
                      <a16:colId xmlns:a16="http://schemas.microsoft.com/office/drawing/2014/main" val="495620318"/>
                    </a:ext>
                  </a:extLst>
                </a:gridCol>
              </a:tblGrid>
              <a:tr h="672254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S.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Patent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Country &amp; Grant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063844"/>
                  </a:ext>
                </a:extLst>
              </a:tr>
              <a:tr h="75401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 and system for energy harvesting</a:t>
                      </a: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United states(US)-2013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A system that harvests mechanical energy from vehicles using piezoelectric devices and generators.</a:t>
                      </a:r>
                    </a:p>
                    <a:p>
                      <a:pPr algn="just"/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139571"/>
                  </a:ext>
                </a:extLst>
              </a:tr>
              <a:tr h="75401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Energy harvesting system, apparatus and method</a:t>
                      </a: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United states(US)-2006</a:t>
                      </a:r>
                      <a:endParaRPr lang="en-IN" sz="2000" dirty="0"/>
                    </a:p>
                    <a:p>
                      <a:pPr algn="just"/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A system that converts acoustic (sound) energy into electrical energy using piezoelectric devices for sensors.</a:t>
                      </a:r>
                    </a:p>
                    <a:p>
                      <a:pPr algn="just"/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407812"/>
                  </a:ext>
                </a:extLst>
              </a:tr>
              <a:tr h="75401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Vibration energy harvesting and management for wireless sensor networks in bridge structural monitoring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United states(US)-2005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An IEEE research paper presenting a technological approach for efficient energy harvesting and system optimization.</a:t>
                      </a:r>
                    </a:p>
                    <a:p>
                      <a:pPr algn="just"/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7774419"/>
                  </a:ext>
                </a:extLst>
              </a:tr>
              <a:tr h="75401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Energy harvesting from loudspeaker vibration</a:t>
                      </a:r>
                      <a:endParaRPr lang="en-IN" sz="2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/>
                        <a:t>WIPO-2020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/>
                        <a:t>Energy harvesting from loudspeaker vibration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7573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063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4090-F4E1-92EA-95A6-F8C68CB9E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CA62E0-5633-AF51-D4FD-F54D6F2169ED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solidFill>
            <a:srgbClr val="0D0D8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PROBLEMS IDENTIFIED IN EXISTING SOLUTIONS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54482-32B2-24CF-4BB8-E34C191885CB}"/>
              </a:ext>
            </a:extLst>
          </p:cNvPr>
          <p:cNvSpPr txBox="1"/>
          <p:nvPr/>
        </p:nvSpPr>
        <p:spPr>
          <a:xfrm>
            <a:off x="11186160" y="30480"/>
            <a:ext cx="70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C09E79-F566-481D-AE59-50A0C6FE246A}" type="slidenum">
              <a:rPr lang="en-IN" sz="2800" b="1" smtClean="0">
                <a:solidFill>
                  <a:schemeClr val="bg1"/>
                </a:solidFill>
              </a:rPr>
              <a:pPr algn="ctr"/>
              <a:t>6</a:t>
            </a:fld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33BDE4-6CB2-AD09-AE68-6C795C4DB23E}"/>
              </a:ext>
            </a:extLst>
          </p:cNvPr>
          <p:cNvSpPr txBox="1"/>
          <p:nvPr/>
        </p:nvSpPr>
        <p:spPr>
          <a:xfrm>
            <a:off x="639097" y="967904"/>
            <a:ext cx="986175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Conventional Tunnel Lighting Systems</a:t>
            </a:r>
            <a:br>
              <a:rPr lang="en-US" sz="2200" dirty="0"/>
            </a:br>
            <a:r>
              <a:rPr lang="en-US" sz="2200" dirty="0"/>
              <a:t>Uses electricity from the power grid with fixed lights installed inside the tunnel.</a:t>
            </a:r>
            <a:br>
              <a:rPr lang="en-US" sz="2200" dirty="0"/>
            </a:br>
            <a:r>
              <a:rPr lang="en-US" sz="2200" dirty="0"/>
              <a:t>Consumes more energy and requires high wiring and maintenance cost.</a:t>
            </a:r>
          </a:p>
          <a:p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Basic Energy Harvesting Systems</a:t>
            </a:r>
            <a:br>
              <a:rPr lang="en-US" sz="2200" dirty="0"/>
            </a:br>
            <a:r>
              <a:rPr lang="en-US" sz="2200" dirty="0"/>
              <a:t>Some systems use </a:t>
            </a:r>
            <a:r>
              <a:rPr lang="en-US" sz="2200" b="1" dirty="0"/>
              <a:t>single-source harvesting</a:t>
            </a:r>
            <a:r>
              <a:rPr lang="en-US" sz="2200" dirty="0"/>
              <a:t> (only vibration or only airflow), but </a:t>
            </a:r>
          </a:p>
          <a:p>
            <a:r>
              <a:rPr lang="en-US" sz="2200" dirty="0"/>
              <a:t>     not hybrid integration.</a:t>
            </a:r>
          </a:p>
          <a:p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Battery Energy Storage Systems (BESS)</a:t>
            </a:r>
          </a:p>
          <a:p>
            <a:r>
              <a:rPr lang="en-US" sz="2200" dirty="0"/>
              <a:t>     Large battery banks store external electricity and supply power to tunnel lights </a:t>
            </a:r>
          </a:p>
          <a:p>
            <a:r>
              <a:rPr lang="en-US" sz="2200" dirty="0"/>
              <a:t>     when required.</a:t>
            </a:r>
          </a:p>
          <a:p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Smart LED Lighting Systems</a:t>
            </a:r>
            <a:br>
              <a:rPr lang="en-US" sz="2200" dirty="0"/>
            </a:br>
            <a:r>
              <a:rPr lang="en-US" sz="2200" dirty="0"/>
              <a:t>Uses energy-efficient LED lights with automatic control systems.</a:t>
            </a:r>
            <a:br>
              <a:rPr lang="en-US" sz="2200" dirty="0"/>
            </a:br>
            <a:r>
              <a:rPr lang="en-US" sz="2200" dirty="0"/>
              <a:t>Reduces power consumption but still depends on external electricity supply.</a:t>
            </a:r>
            <a:endParaRPr lang="en-IN" sz="2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04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C087E-8300-9C34-2B13-2089B84BD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4EA6D1-9FF2-DDB7-474C-164D126FF2E5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solidFill>
            <a:srgbClr val="0D0D8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PROPOSED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5904AC-2986-FF37-78D8-E47096C6BC88}"/>
              </a:ext>
            </a:extLst>
          </p:cNvPr>
          <p:cNvSpPr txBox="1"/>
          <p:nvPr/>
        </p:nvSpPr>
        <p:spPr>
          <a:xfrm>
            <a:off x="11186160" y="30480"/>
            <a:ext cx="70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C09E79-F566-481D-AE59-50A0C6FE246A}" type="slidenum">
              <a:rPr lang="en-IN" sz="2800" b="1" smtClean="0">
                <a:solidFill>
                  <a:schemeClr val="bg1"/>
                </a:solidFill>
              </a:rPr>
              <a:pPr algn="ctr"/>
              <a:t>7</a:t>
            </a:fld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84A277-8EB2-B6A1-2312-8C87CE96452C}"/>
              </a:ext>
            </a:extLst>
          </p:cNvPr>
          <p:cNvSpPr txBox="1"/>
          <p:nvPr/>
        </p:nvSpPr>
        <p:spPr>
          <a:xfrm>
            <a:off x="-73742" y="407056"/>
            <a:ext cx="3328219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/>
              <a:t> BLOCK DIAGRAM </a:t>
            </a:r>
          </a:p>
        </p:txBody>
      </p:sp>
      <p:pic>
        <p:nvPicPr>
          <p:cNvPr id="2" name="Image 13">
            <a:extLst>
              <a:ext uri="{FF2B5EF4-FFF2-40B4-BE49-F238E27FC236}">
                <a16:creationId xmlns:a16="http://schemas.microsoft.com/office/drawing/2014/main" id="{03FE7F13-D71E-2063-F53C-D8376740674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64759" y="668593"/>
            <a:ext cx="3462480" cy="618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095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A9BA1-471E-A3E1-E02A-48D61A5D3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55BC24-BEBC-66CF-A3A5-C2070D7C9DB9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solidFill>
            <a:srgbClr val="0D0D8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PROPOSED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8C21D1-E80C-295B-4E23-97C475EBC3B2}"/>
              </a:ext>
            </a:extLst>
          </p:cNvPr>
          <p:cNvSpPr txBox="1"/>
          <p:nvPr/>
        </p:nvSpPr>
        <p:spPr>
          <a:xfrm>
            <a:off x="11186160" y="30480"/>
            <a:ext cx="70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C09E79-F566-481D-AE59-50A0C6FE246A}" type="slidenum">
              <a:rPr lang="en-IN" sz="2800" b="1" smtClean="0">
                <a:solidFill>
                  <a:schemeClr val="bg1"/>
                </a:solidFill>
              </a:rPr>
              <a:pPr algn="ctr"/>
              <a:t>8</a:t>
            </a:fld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95667-AF8E-F400-CA32-CC1380261FC2}"/>
              </a:ext>
            </a:extLst>
          </p:cNvPr>
          <p:cNvSpPr txBox="1"/>
          <p:nvPr/>
        </p:nvSpPr>
        <p:spPr>
          <a:xfrm>
            <a:off x="-73742" y="407056"/>
            <a:ext cx="5304503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/>
              <a:t> UNIQUE/ INNOVATIVE FEATURES</a:t>
            </a:r>
          </a:p>
          <a:p>
            <a:pPr>
              <a:lnSpc>
                <a:spcPct val="150000"/>
              </a:lnSpc>
            </a:pPr>
            <a:endParaRPr lang="en-IN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CB65F2-191C-E0B5-177B-6BBCE5B8290F}"/>
              </a:ext>
            </a:extLst>
          </p:cNvPr>
          <p:cNvSpPr txBox="1"/>
          <p:nvPr/>
        </p:nvSpPr>
        <p:spPr>
          <a:xfrm>
            <a:off x="575186" y="1725237"/>
            <a:ext cx="1186753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 Hybrid energy generation using both vibration and airflow from train movement.</a:t>
            </a:r>
          </a:p>
          <a:p>
            <a:pPr algn="just"/>
            <a:endParaRPr lang="en-US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 Self-powered tunnel lighting system with no external electricity requirement.</a:t>
            </a:r>
          </a:p>
          <a:p>
            <a:pPr algn="just"/>
            <a:endParaRPr lang="en-US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 Automatic energy generation triggered only during train entry and exit.</a:t>
            </a:r>
          </a:p>
          <a:p>
            <a:pPr algn="just"/>
            <a:endParaRPr lang="en-US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 Integration of real-time monitoring using Arduino and IoT-based control (</a:t>
            </a:r>
            <a:r>
              <a:rPr lang="en-US" sz="2200" b="1" dirty="0"/>
              <a:t>Internet of Things</a:t>
            </a:r>
            <a:r>
              <a:rPr lang="en-US" sz="2200" dirty="0"/>
              <a:t>).</a:t>
            </a:r>
          </a:p>
          <a:p>
            <a:pPr algn="just"/>
            <a:endParaRPr lang="en-US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 Scalable design suitable for real railway tunnels and smart transportation systems.</a:t>
            </a:r>
          </a:p>
          <a:p>
            <a:pPr algn="just"/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252878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FD4EC-776E-8E0B-E8A9-1FDEA1C7B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9039F1-09F3-7BF3-BE79-826E70AAAD74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solidFill>
            <a:srgbClr val="0D0D8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PROPOSED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AA897E-447C-D1E0-5EEA-A594CCDD86BA}"/>
              </a:ext>
            </a:extLst>
          </p:cNvPr>
          <p:cNvSpPr txBox="1"/>
          <p:nvPr/>
        </p:nvSpPr>
        <p:spPr>
          <a:xfrm>
            <a:off x="11186160" y="30480"/>
            <a:ext cx="70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C09E79-F566-481D-AE59-50A0C6FE246A}" type="slidenum">
              <a:rPr lang="en-IN" sz="2800" b="1" smtClean="0">
                <a:solidFill>
                  <a:schemeClr val="bg1"/>
                </a:solidFill>
              </a:rPr>
              <a:pPr algn="ctr"/>
              <a:t>9</a:t>
            </a:fld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A2A39-FCF4-09EB-C938-914E7C12CE0D}"/>
              </a:ext>
            </a:extLst>
          </p:cNvPr>
          <p:cNvSpPr txBox="1"/>
          <p:nvPr/>
        </p:nvSpPr>
        <p:spPr>
          <a:xfrm>
            <a:off x="-73743" y="407056"/>
            <a:ext cx="7969045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/>
              <a:t>FLOW CHART / SIGNAL FLOW GRAPH / ALGORITHM</a:t>
            </a:r>
          </a:p>
          <a:p>
            <a:pPr>
              <a:lnSpc>
                <a:spcPct val="150000"/>
              </a:lnSpc>
            </a:pPr>
            <a:endParaRPr lang="en-IN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E0FAB1-C3EE-1529-DCB2-D354D133D5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438" y="1205562"/>
            <a:ext cx="2408903" cy="555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486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A8AB6-F34E-F7DC-5D52-61DFE829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3505BA-FB47-848D-2C4C-20DFAF6A71C9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solidFill>
            <a:srgbClr val="0D0D8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PROPOSED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95C955-CC88-44FD-D084-39A84E9E3912}"/>
              </a:ext>
            </a:extLst>
          </p:cNvPr>
          <p:cNvSpPr txBox="1"/>
          <p:nvPr/>
        </p:nvSpPr>
        <p:spPr>
          <a:xfrm>
            <a:off x="11186160" y="30480"/>
            <a:ext cx="70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C09E79-F566-481D-AE59-50A0C6FE246A}" type="slidenum">
              <a:rPr lang="en-IN" sz="2800" b="1" smtClean="0">
                <a:solidFill>
                  <a:schemeClr val="bg1"/>
                </a:solidFill>
              </a:rPr>
              <a:pPr algn="ctr"/>
              <a:t>10</a:t>
            </a:fld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5FDC6-970C-A97E-E1BB-1984C19219D4}"/>
              </a:ext>
            </a:extLst>
          </p:cNvPr>
          <p:cNvSpPr txBox="1"/>
          <p:nvPr/>
        </p:nvSpPr>
        <p:spPr>
          <a:xfrm>
            <a:off x="0" y="407054"/>
            <a:ext cx="2998839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/>
              <a:t>CIRCUIT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319631-D7F1-0580-19B7-34CD78DF9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3"/>
          <a:stretch>
            <a:fillRect/>
          </a:stretch>
        </p:blipFill>
        <p:spPr>
          <a:xfrm>
            <a:off x="2841523" y="742981"/>
            <a:ext cx="7738080" cy="611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359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916CD-F0C4-C861-E8A6-FD7529A45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E49B98-672B-AD36-AB78-3CB585EA6B86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solidFill>
            <a:srgbClr val="0D0D8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PROPOSED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3D93E0-8469-74D5-A7E4-3436B27E80BD}"/>
              </a:ext>
            </a:extLst>
          </p:cNvPr>
          <p:cNvSpPr txBox="1"/>
          <p:nvPr/>
        </p:nvSpPr>
        <p:spPr>
          <a:xfrm>
            <a:off x="11186160" y="30480"/>
            <a:ext cx="70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C09E79-F566-481D-AE59-50A0C6FE246A}" type="slidenum">
              <a:rPr lang="en-IN" sz="2800" b="1" smtClean="0">
                <a:solidFill>
                  <a:schemeClr val="bg1"/>
                </a:solidFill>
              </a:rPr>
              <a:pPr algn="ctr"/>
              <a:t>11</a:t>
            </a:fld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D524F2-67BD-A5A8-18B2-BD5C96BE59CF}"/>
              </a:ext>
            </a:extLst>
          </p:cNvPr>
          <p:cNvSpPr txBox="1"/>
          <p:nvPr/>
        </p:nvSpPr>
        <p:spPr>
          <a:xfrm>
            <a:off x="-73742" y="407056"/>
            <a:ext cx="7398774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/>
              <a:t>PCB LAYOUT DESIGN</a:t>
            </a:r>
          </a:p>
        </p:txBody>
      </p:sp>
      <p:pic>
        <p:nvPicPr>
          <p:cNvPr id="2" name="Image 28">
            <a:extLst>
              <a:ext uri="{FF2B5EF4-FFF2-40B4-BE49-F238E27FC236}">
                <a16:creationId xmlns:a16="http://schemas.microsoft.com/office/drawing/2014/main" id="{B23B5B30-28EE-8FE7-7058-4AF6579BDF16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54477" y="1078907"/>
            <a:ext cx="6980904" cy="560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7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A2A02-2FAB-886B-DAE1-000F25A17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33169A-97FB-92D3-3999-EE25714B0AAA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solidFill>
            <a:srgbClr val="0D0D8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PROPOSED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DE8792-BE00-68D1-913E-B0B54D2F9990}"/>
              </a:ext>
            </a:extLst>
          </p:cNvPr>
          <p:cNvSpPr txBox="1"/>
          <p:nvPr/>
        </p:nvSpPr>
        <p:spPr>
          <a:xfrm>
            <a:off x="11186160" y="30480"/>
            <a:ext cx="70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C09E79-F566-481D-AE59-50A0C6FE246A}" type="slidenum">
              <a:rPr lang="en-IN" sz="2800" b="1" smtClean="0">
                <a:solidFill>
                  <a:schemeClr val="bg1"/>
                </a:solidFill>
              </a:rPr>
              <a:pPr algn="ctr"/>
              <a:t>12</a:t>
            </a:fld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A95568-3FA1-D251-C421-DC4CC23FBB44}"/>
              </a:ext>
            </a:extLst>
          </p:cNvPr>
          <p:cNvSpPr txBox="1"/>
          <p:nvPr/>
        </p:nvSpPr>
        <p:spPr>
          <a:xfrm>
            <a:off x="-73742" y="407056"/>
            <a:ext cx="7398774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/>
              <a:t>3D CAD MODELLING OF ENCLOSURE</a:t>
            </a:r>
          </a:p>
        </p:txBody>
      </p:sp>
      <p:pic>
        <p:nvPicPr>
          <p:cNvPr id="4" name="Image 29">
            <a:extLst>
              <a:ext uri="{FF2B5EF4-FFF2-40B4-BE49-F238E27FC236}">
                <a16:creationId xmlns:a16="http://schemas.microsoft.com/office/drawing/2014/main" id="{0500F864-90DA-A38E-CB11-647CE9B7D9B3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7256" y="2084305"/>
            <a:ext cx="3903468" cy="2733501"/>
          </a:xfrm>
          <a:prstGeom prst="rect">
            <a:avLst/>
          </a:prstGeom>
        </p:spPr>
      </p:pic>
      <p:pic>
        <p:nvPicPr>
          <p:cNvPr id="7" name="Image 30">
            <a:extLst>
              <a:ext uri="{FF2B5EF4-FFF2-40B4-BE49-F238E27FC236}">
                <a16:creationId xmlns:a16="http://schemas.microsoft.com/office/drawing/2014/main" id="{04F49F5E-B8D8-CFDF-BE2F-6A4EE892ED31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44265" y="2084305"/>
            <a:ext cx="3903469" cy="2733501"/>
          </a:xfrm>
          <a:prstGeom prst="rect">
            <a:avLst/>
          </a:prstGeom>
        </p:spPr>
      </p:pic>
      <p:pic>
        <p:nvPicPr>
          <p:cNvPr id="8" name="Image 31">
            <a:extLst>
              <a:ext uri="{FF2B5EF4-FFF2-40B4-BE49-F238E27FC236}">
                <a16:creationId xmlns:a16="http://schemas.microsoft.com/office/drawing/2014/main" id="{8DF318A4-8347-E1C4-1661-F83A78791CDF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131276" y="2084305"/>
            <a:ext cx="3903468" cy="27335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26168C-6BAB-5F58-C5DC-401B64E02FB7}"/>
              </a:ext>
            </a:extLst>
          </p:cNvPr>
          <p:cNvSpPr txBox="1"/>
          <p:nvPr/>
        </p:nvSpPr>
        <p:spPr>
          <a:xfrm>
            <a:off x="1271997" y="5181600"/>
            <a:ext cx="16739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FRONT VIEW</a:t>
            </a:r>
            <a:endParaRPr lang="en-IN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E2EFD4-3E9F-E031-A2B2-0063F4792BA4}"/>
              </a:ext>
            </a:extLst>
          </p:cNvPr>
          <p:cNvSpPr txBox="1"/>
          <p:nvPr/>
        </p:nvSpPr>
        <p:spPr>
          <a:xfrm>
            <a:off x="9794865" y="5181600"/>
            <a:ext cx="13912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SIDE VIEW</a:t>
            </a:r>
            <a:endParaRPr lang="en-IN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8AAF66-E33A-AD89-753A-A681B57ADAC7}"/>
              </a:ext>
            </a:extLst>
          </p:cNvPr>
          <p:cNvSpPr txBox="1"/>
          <p:nvPr/>
        </p:nvSpPr>
        <p:spPr>
          <a:xfrm>
            <a:off x="5332635" y="5181600"/>
            <a:ext cx="1526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200" dirty="0"/>
              <a:t>BACK VIEW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873809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AF5F0-6760-1E01-6955-C56A4EC1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562DB4-F8A4-90B8-F850-434D277EADFC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solidFill>
            <a:srgbClr val="0D0D8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PROPOSED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E73C5E-3754-23A2-77DB-69764AE84F84}"/>
              </a:ext>
            </a:extLst>
          </p:cNvPr>
          <p:cNvSpPr txBox="1"/>
          <p:nvPr/>
        </p:nvSpPr>
        <p:spPr>
          <a:xfrm>
            <a:off x="11186160" y="30480"/>
            <a:ext cx="70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C09E79-F566-481D-AE59-50A0C6FE246A}" type="slidenum">
              <a:rPr lang="en-IN" sz="2800" b="1" smtClean="0">
                <a:solidFill>
                  <a:schemeClr val="bg1"/>
                </a:solidFill>
              </a:rPr>
              <a:pPr algn="ctr"/>
              <a:t>13</a:t>
            </a:fld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78AF29-2C6A-2709-FF93-B26346541131}"/>
              </a:ext>
            </a:extLst>
          </p:cNvPr>
          <p:cNvSpPr txBox="1"/>
          <p:nvPr/>
        </p:nvSpPr>
        <p:spPr>
          <a:xfrm>
            <a:off x="-73742" y="407056"/>
            <a:ext cx="7398774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/>
              <a:t>PROTOTYPE PHOTOGRAPH</a:t>
            </a:r>
          </a:p>
          <a:p>
            <a:pPr>
              <a:lnSpc>
                <a:spcPct val="150000"/>
              </a:lnSpc>
            </a:pPr>
            <a:endParaRPr lang="en-IN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0F9F41-1D36-4835-C6DB-E24E09CFD7A9}"/>
              </a:ext>
            </a:extLst>
          </p:cNvPr>
          <p:cNvSpPr txBox="1"/>
          <p:nvPr/>
        </p:nvSpPr>
        <p:spPr>
          <a:xfrm>
            <a:off x="1271997" y="5181600"/>
            <a:ext cx="16739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238EFB-5FD0-2D1C-3B74-9990C9DA0BEF}"/>
              </a:ext>
            </a:extLst>
          </p:cNvPr>
          <p:cNvSpPr txBox="1"/>
          <p:nvPr/>
        </p:nvSpPr>
        <p:spPr>
          <a:xfrm>
            <a:off x="8408516" y="5181599"/>
            <a:ext cx="13912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2A7B30-6877-E357-3962-DBDC9D05B998}"/>
              </a:ext>
            </a:extLst>
          </p:cNvPr>
          <p:cNvSpPr txBox="1"/>
          <p:nvPr/>
        </p:nvSpPr>
        <p:spPr>
          <a:xfrm>
            <a:off x="5332635" y="5181600"/>
            <a:ext cx="1526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122B38-7E88-6BEF-14E1-F13F8088B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485" y="1066146"/>
            <a:ext cx="5725838" cy="572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01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5AAC-5E17-085A-FA02-F1C07AE4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65C16C-ED1B-0FD8-A62F-814719B51D8D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solidFill>
            <a:srgbClr val="0D0D8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PROPOSED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FF4054-7084-B525-605F-FC9733FE911B}"/>
              </a:ext>
            </a:extLst>
          </p:cNvPr>
          <p:cNvSpPr txBox="1"/>
          <p:nvPr/>
        </p:nvSpPr>
        <p:spPr>
          <a:xfrm>
            <a:off x="11186160" y="30480"/>
            <a:ext cx="70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C09E79-F566-481D-AE59-50A0C6FE246A}" type="slidenum">
              <a:rPr lang="en-IN" sz="2800" b="1" smtClean="0">
                <a:solidFill>
                  <a:schemeClr val="bg1"/>
                </a:solidFill>
              </a:rPr>
              <a:pPr algn="ctr"/>
              <a:t>14</a:t>
            </a:fld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7E76A-16A0-1C54-C341-39F1254C528D}"/>
              </a:ext>
            </a:extLst>
          </p:cNvPr>
          <p:cNvSpPr txBox="1"/>
          <p:nvPr/>
        </p:nvSpPr>
        <p:spPr>
          <a:xfrm>
            <a:off x="-73742" y="407056"/>
            <a:ext cx="7398774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/>
              <a:t>DISCUSSION AND RESULTS</a:t>
            </a:r>
          </a:p>
          <a:p>
            <a:pPr>
              <a:lnSpc>
                <a:spcPct val="150000"/>
              </a:lnSpc>
            </a:pPr>
            <a:endParaRPr lang="en-IN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929AA0-2D75-3CFF-ADD0-0212C887FE58}"/>
              </a:ext>
            </a:extLst>
          </p:cNvPr>
          <p:cNvSpPr txBox="1"/>
          <p:nvPr/>
        </p:nvSpPr>
        <p:spPr>
          <a:xfrm>
            <a:off x="1271997" y="5181600"/>
            <a:ext cx="16739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DD72E6-D698-9BA6-59D5-8160F320D8F1}"/>
              </a:ext>
            </a:extLst>
          </p:cNvPr>
          <p:cNvSpPr txBox="1"/>
          <p:nvPr/>
        </p:nvSpPr>
        <p:spPr>
          <a:xfrm>
            <a:off x="8408516" y="5181599"/>
            <a:ext cx="13912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A22FAD-E5C8-531D-1A7D-8D249CF85A61}"/>
              </a:ext>
            </a:extLst>
          </p:cNvPr>
          <p:cNvSpPr txBox="1"/>
          <p:nvPr/>
        </p:nvSpPr>
        <p:spPr>
          <a:xfrm>
            <a:off x="5332635" y="5181600"/>
            <a:ext cx="1526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83F19C-A284-2C4B-B60A-F2A1A7541F1E}"/>
              </a:ext>
            </a:extLst>
          </p:cNvPr>
          <p:cNvSpPr txBox="1"/>
          <p:nvPr/>
        </p:nvSpPr>
        <p:spPr>
          <a:xfrm>
            <a:off x="776748" y="1245513"/>
            <a:ext cx="1111045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The prototype successfully demonstrated hybrid energy generation from both vibration and airflow when the train passed through the tunnel.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It was observed that airflow-based generation produced relatively higher and more stable voltage compared to vibration-based piezo output.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The combined (hybrid) output showed improved energy availability, confirming the effectiveness of using multiple energy sources together.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The stored energy was sufficient to power tunnel LEDs for a short duration, proving the feasibility of a self-powered lighting system.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The results indicate that with real trains (higher speed and force), the system can generate significantly higher energy, making it suitable for practical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246064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D10D9-0506-91B1-4741-5C786CE6C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3B5A50-13AF-7C72-82C6-2C2937DBDE0B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solidFill>
            <a:srgbClr val="0D0D8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CONCLUSION &amp; FUTURE DIRECTIONS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0D73E-5E12-1BB1-B611-720ED86CF5C6}"/>
              </a:ext>
            </a:extLst>
          </p:cNvPr>
          <p:cNvSpPr txBox="1"/>
          <p:nvPr/>
        </p:nvSpPr>
        <p:spPr>
          <a:xfrm>
            <a:off x="11186160" y="30480"/>
            <a:ext cx="701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C09E79-F566-481D-AE59-50A0C6FE246A}" type="slidenum">
              <a:rPr lang="en-IN" sz="2800" b="1" smtClean="0">
                <a:solidFill>
                  <a:schemeClr val="bg1"/>
                </a:solidFill>
              </a:rPr>
              <a:pPr algn="ctr"/>
              <a:t>15</a:t>
            </a:fld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9D30C-5662-9D62-A0D0-171F7B134156}"/>
              </a:ext>
            </a:extLst>
          </p:cNvPr>
          <p:cNvSpPr txBox="1"/>
          <p:nvPr/>
        </p:nvSpPr>
        <p:spPr>
          <a:xfrm>
            <a:off x="757083" y="1443841"/>
            <a:ext cx="1103179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The proposed system successfully demonstrates that train-induced vibration and airflow can be effectively converted into usable electrical energy.</a:t>
            </a:r>
          </a:p>
          <a:p>
            <a:pPr algn="just"/>
            <a:endParaRPr lang="en-US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The prototype proves the feasibility of a self-powered tunnel lighting system without relying on external power sources.</a:t>
            </a:r>
          </a:p>
          <a:p>
            <a:pPr algn="just"/>
            <a:endParaRPr lang="en-US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Hybrid energy harvesting improves efficiency compared to using a single energy source alone.</a:t>
            </a:r>
          </a:p>
          <a:p>
            <a:pPr algn="just"/>
            <a:endParaRPr lang="en-US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In future, higher-efficiency generators and optimized turbine designs can significantly increase energy output.</a:t>
            </a:r>
          </a:p>
          <a:p>
            <a:pPr algn="just"/>
            <a:endParaRPr lang="en-US" sz="22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dirty="0"/>
              <a:t>The system can be further enhanced using smart monitoring and </a:t>
            </a:r>
            <a:r>
              <a:rPr lang="en-US" sz="2200" b="1" dirty="0"/>
              <a:t>Internet of Things</a:t>
            </a:r>
            <a:r>
              <a:rPr lang="en-US" sz="2200" dirty="0"/>
              <a:t> for large-scale real-world railway applications.</a:t>
            </a:r>
          </a:p>
        </p:txBody>
      </p:sp>
    </p:spTree>
    <p:extLst>
      <p:ext uri="{BB962C8B-B14F-4D97-AF65-F5344CB8AC3E}">
        <p14:creationId xmlns:p14="http://schemas.microsoft.com/office/powerpoint/2010/main" val="781055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04AC6-63B4-0969-6AF4-52A0C4F12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69DF75-2AF1-7E7D-6B6B-0880F7660733}"/>
              </a:ext>
            </a:extLst>
          </p:cNvPr>
          <p:cNvSpPr txBox="1"/>
          <p:nvPr/>
        </p:nvSpPr>
        <p:spPr>
          <a:xfrm>
            <a:off x="3251200" y="2366088"/>
            <a:ext cx="5689600" cy="1913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8800" b="1" dirty="0">
                <a:solidFill>
                  <a:srgbClr val="0D0D86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22169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951</Words>
  <Application>Microsoft Office PowerPoint</Application>
  <PresentationFormat>Widescreen</PresentationFormat>
  <Paragraphs>153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GANAPATHY RAM B</dc:creator>
  <cp:lastModifiedBy>Arockya Abinesh A</cp:lastModifiedBy>
  <cp:revision>4</cp:revision>
  <dcterms:created xsi:type="dcterms:W3CDTF">2026-04-21T11:57:56Z</dcterms:created>
  <dcterms:modified xsi:type="dcterms:W3CDTF">2026-04-22T04:05:29Z</dcterms:modified>
</cp:coreProperties>
</file>